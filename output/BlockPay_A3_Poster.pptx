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2480eda68740d3" /><Relationship Type="http://schemas.openxmlformats.org/officeDocument/2006/relationships/extended-properties" Target="/docProps/app.xml" Id="R171ab3fa61ff41d9" /><Relationship Type="http://schemas.openxmlformats.org/officeDocument/2006/relationships/officeDocument" Target="/ppt/presentation.xml" Id="R75195c28dba944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ea22a56b34a92"/>
  </p:sldMasterIdLst>
  <p:notesMasterIdLst>
    <p:notesMasterId xmlns:r="http://schemas.openxmlformats.org/officeDocument/2006/relationships" r:id="Rdeaec5e29520499b"/>
  </p:notesMasterIdLst>
  <p:sldIdLst>
    <p:sldId xmlns:r="http://schemas.openxmlformats.org/officeDocument/2006/relationships" id="256" r:id="R5931ac4fb88b4f29"/>
  </p:sldIdLst>
  <p:sldSz cx="15116175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38f09e371d405e" /><Relationship Type="http://schemas.openxmlformats.org/officeDocument/2006/relationships/slideMaster" Target="/ppt/slideMasters/slideMaster1.xml" Id="Rd56ea22a56b34a92" /><Relationship Type="http://schemas.openxmlformats.org/officeDocument/2006/relationships/notesMaster" Target="/ppt/notesMasters/notesMaster1.xml" Id="Rdeaec5e29520499b" /><Relationship Type="http://schemas.openxmlformats.org/officeDocument/2006/relationships/presProps" Target="/ppt/presProps.xml" Id="R36a45bd701e74953" /><Relationship Type="http://schemas.openxmlformats.org/officeDocument/2006/relationships/tableStyles" Target="/ppt/tableStyles.xml" Id="R7b685f068cda4e3b" /><Relationship Type="http://schemas.openxmlformats.org/officeDocument/2006/relationships/slide" Target="/ppt/slides/slide1.xml" Id="R5931ac4fb88b4f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d3c469badb4d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40bf5ef7ba4dd6" /><Relationship Type="http://schemas.openxmlformats.org/officeDocument/2006/relationships/notesMaster" Target="/ppt/notesMasters/notesMaster1.xml" Id="Rd6fb6cf8d1b6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a57b88d4e43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b514e70f034558" /><Relationship Type="http://schemas.openxmlformats.org/officeDocument/2006/relationships/slideLayout" Target="/ppt/slideLayouts/slideLayout1.xml" Id="R8d6d8d4a921d42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6d8d4a921d42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e09c117f44b1b" /><Relationship Type="http://schemas.openxmlformats.org/officeDocument/2006/relationships/notesSlide" Target="/ppt/notesSlides/notesSlide1.xml" Id="R37118152fcd148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text">
            <a:extLst xmlns:a="http://schemas.openxmlformats.org/drawingml/2006/main">
              <a:ext uri="{FF2B5EF4-FFF2-40B4-BE49-F238E27FC236}">
                <a16:creationId xmlns:a16="http://schemas.microsoft.com/office/drawing/2014/main" id="{A1CE1499-932A-49F7-BA36-8D196FBC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D6BF"/>
                </a:solidFill>
              </a:defRPr>
            </a:pPr>
            <a:r>
              <a:rPr sz="1200" b="1">
                <a:solidFill>
                  <a:srgbClr val="36D6BF"/>
                </a:solidFill>
              </a:rPr>
              <a:t>21CSC653T  /  FP1 POSTER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8AFF780-0477-4450-B970-CC41F4EC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BLOCKPAY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EC3BBC7-41ED-434A-BD81-D2ED5518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8C9"/>
                </a:solidFill>
              </a:defRPr>
            </a:pPr>
            <a:r>
              <a:rPr sz="1875" b="0">
                <a:solidFill>
                  <a:srgbClr val="A9B8C9"/>
                </a:solidFill>
              </a:rPr>
              <a:t>Cloud-enabled campus payments with blockchain-verifiable receipts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84C957A5-7A21-43C8-966F-28D51F37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238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C2230"/>
          </a:solidFill>
          <a:ln xmlns:a="http://schemas.openxmlformats.org/drawingml/2006/main" w="11430">
            <a:solidFill>
              <a:srgbClr val="36D6B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7710B9-4126-4605-90FA-8470DD47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"/>
            <a:ext cx="2705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BF"/>
                </a:solidFill>
              </a:defRPr>
            </a:pPr>
            <a:r>
              <a:rPr sz="1125" b="1">
                <a:solidFill>
                  <a:srgbClr val="36D6BF"/>
                </a:solidFill>
              </a:rPr>
              <a:t>CORE IDEA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2F3744-51EC-4E3A-BE4E-E129C1D8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953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Fast off-chain payments.</a:t>
            </a:r>
          </a:p>
          <a:p xmlns:a="http://schemas.openxmlformats.org/drawingml/2006/main">
            <a:pPr algn="ctr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Tamper-evident on-chain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BD0BF-93FF-47FC-A714-9F68F51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57"/>
          </a:solidFill>
          <a:ln xmlns:a="http://schemas.openxmlformats.org/drawingml/2006/main" w="0">
            <a:solidFill>
              <a:srgbClr val="2A4057"/>
            </a:solidFill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D12CF13A-7EB4-4CBB-9F2E-768CF439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4238625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11430">
            <a:solidFill>
              <a:srgbClr val="2A405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51E474-F9AC-4BB6-B208-9F5932DA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91"/>
          </a:solidFill>
          <a:ln xmlns:a="http://schemas.openxmlformats.org/drawingml/2006/main" w="0">
            <a:solidFill>
              <a:srgbClr val="FF5B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D01174-33F9-441A-9AA2-D18862B6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14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PROBLEM STATEMENT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76F6978-23F6-4177-9C92-2C2BFCCD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3762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Campus payments are convenient, but records can be disputed, altered, or trapped inside one central system.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F1E6B-DB79-4875-A77F-861FA982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solidFill>
              <a:srgbClr val="36D6B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F499B67-0B7A-4A6D-869B-BFDE7EDB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No independent proof of a completed transfer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2E9B0-EC02-4CF8-A632-56544274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solidFill>
              <a:srgbClr val="36D6B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A06908-D8BD-425D-A619-D30D97D9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Manual bill splitting and payment follow-ups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9AEB7-9D6D-4352-A119-1C16349B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solidFill>
              <a:srgbClr val="36D6B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B3F2F33-15FC-4A61-996E-9BD102E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Centralized logs create a single point of trust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5981FE4B-F4DC-4301-A30A-62ED0DF1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423862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3263A"/>
          </a:solidFill>
          <a:ln xmlns:a="http://schemas.openxmlformats.org/drawingml/2006/main" w="11430">
            <a:solidFill>
              <a:srgbClr val="2A4057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ED229A2-DCC8-418B-AD51-AECF87A4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solidFill>
              <a:srgbClr val="36D6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02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FF58E79-2C73-4196-8B97-73AB084E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486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PROPOSED SOLUTION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7271D50-0B9D-4FF1-B069-72724A6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A student wallet that combines cloud speed with blockchain integrity.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CAC707-B56A-4364-8A0D-DB5FD49D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7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solidFill>
              <a:srgbClr val="36D6BF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215DB7B-E837-4941-931D-40FE3C7E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9605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Send, request, split, scan QR and notify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550B1-3289-488B-BC26-961739EC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3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solidFill>
              <a:srgbClr val="36D6B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D9245BF-471F-4F90-B081-36D082F0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Store full private records in MongoDB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65B22A-7F04-4B32-B3B0-F82D46C4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9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solidFill>
              <a:srgbClr val="36D6BF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8FE9A47-C41A-489E-AC57-BCCDA6B5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21995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Anchor reference ID + SHA-256 hash on-chain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28924A99-538E-453E-9A24-54FDCB29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43850"/>
            <a:ext cx="423862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11430">
            <a:solidFill>
              <a:srgbClr val="2A4057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3E3217E-4394-4F75-ACB8-2C027BD7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534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solidFill>
              <a:srgbClr val="55A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03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7EB00E4-7DE5-4BE6-AE79-51E80DAA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8153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TECHNOLOGIES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F6484D6-B727-416F-A450-F90B65FE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620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React + Vite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BFBD6DC-811E-432F-A397-26F43408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8106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Web UI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3AF2B93-6E09-41D0-8D1D-0548D8D6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8620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Node + Express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18B3248-AE2B-4438-95CE-0D186AF2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88106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Cloud API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257A54E-A524-4626-B6B1-CD2918EC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0392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MongoDB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7367B64-4B2F-497E-A382-3A87D91D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97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App data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88CEB21C-70FE-4503-A01B-485A3A67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90392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Solidity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44611D00-D157-4933-988E-D4890DE5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92297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Proof registry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1A04EA6-5F50-4A03-B85E-13E2B93F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583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JWT + SHA-256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943D15AA-DB83-400A-9FE4-6F47AB98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488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Security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BD8F8A0F-D45F-49AC-85E5-19EF562D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94583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Docker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76CAA36E-6522-47F0-BA3B-82320DCA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96488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Deployment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D3255B8D-08DB-4479-99C7-B2899882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9429750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0B1726"/>
          </a:solidFill>
          <a:ln xmlns:a="http://schemas.openxmlformats.org/drawingml/2006/main" w="11430">
            <a:solidFill>
              <a:srgbClr val="2A4057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40D52CF9-3839-4D84-94CC-A50965EA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14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solidFill>
              <a:srgbClr val="36D6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04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C11C3E8A-A959-406B-99AB-82A6357F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14600"/>
            <a:ext cx="842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CLOUD + BLOCKCHAIN ARCHITECTURE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B8E7BC88-4D23-4192-B740-F29F46C5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9"/>
                </a:solidFill>
              </a:defRPr>
            </a:pPr>
            <a:r>
              <a:rPr sz="1275" b="0">
                <a:solidFill>
                  <a:srgbClr val="A9B8C9"/>
                </a:solidFill>
              </a:rPr>
              <a:t>Operational data stays off-chain; a compact proof is mirrored on-chain for later verification.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528FB5-011C-428C-9E02-9663940C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0527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B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4B6553-A436-474A-A9D4-D188462A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0527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B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DF2422-399C-4727-917F-A50FAA9D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41052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B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5952C4-54EA-46AD-930A-07FF793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434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5A7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5B7AF6-BEE5-4532-A94A-F0E02F3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7434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B91"/>
            </a:solidFill>
            <a:prstDash val="solid"/>
          </a:ln>
        </p:spPr>
      </p:sp>
      <p:sp>
        <p:nvSpPr>
          <p:cNvPr id="52" name="node-Student App">
            <a:extLst xmlns:a="http://schemas.openxmlformats.org/drawingml/2006/main">
              <a:ext uri="{FF2B5EF4-FFF2-40B4-BE49-F238E27FC236}">
                <a16:creationId xmlns:a16="http://schemas.microsoft.com/office/drawing/2014/main" id="{6F5C58EF-53EE-42D5-A4FC-0B5D3BFE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16668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314A"/>
          </a:solidFill>
          <a:ln xmlns:a="http://schemas.openxmlformats.org/drawingml/2006/main" w="11430">
            <a:solidFill>
              <a:srgbClr val="55A7FF"/>
            </a:solidFill>
            <a:prstDash val="solid"/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E11F7110-8335-41CD-8B11-67D2D45E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14750"/>
            <a:ext cx="143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Student App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E5FAEFA9-FDEF-4419-943E-3CFF1E87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00500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React UI • QR • wallet</a:t>
            </a:r>
          </a:p>
        </p:txBody>
      </p:sp>
      <p:sp>
        <p:nvSpPr>
          <p:cNvPr id="55" name="node-Cloud API">
            <a:extLst xmlns:a="http://schemas.openxmlformats.org/drawingml/2006/main">
              <a:ext uri="{FF2B5EF4-FFF2-40B4-BE49-F238E27FC236}">
                <a16:creationId xmlns:a16="http://schemas.microsoft.com/office/drawing/2014/main" id="{1D93D699-7004-4430-A203-30D23205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0002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23B3A"/>
          </a:solidFill>
          <a:ln xmlns:a="http://schemas.openxmlformats.org/drawingml/2006/main" w="11430">
            <a:solidFill>
              <a:srgbClr val="36D6BF"/>
            </a:solidFill>
            <a:prstDash val="solid"/>
          </a:ln>
        </p:spPr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CC4EEA34-0EBD-4DC0-BE2B-F7F57163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Cloud API</a:t>
            </a:r>
          </a:p>
        </p:txBody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539A8659-DAE2-4F8C-8074-46B34DE5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Express • JWT • validation</a:t>
            </a:r>
          </a:p>
        </p:txBody>
      </p:sp>
      <p:sp>
        <p:nvSpPr>
          <p:cNvPr id="58" name="node-Payment Engine">
            <a:extLst xmlns:a="http://schemas.openxmlformats.org/drawingml/2006/main">
              <a:ext uri="{FF2B5EF4-FFF2-40B4-BE49-F238E27FC236}">
                <a16:creationId xmlns:a16="http://schemas.microsoft.com/office/drawing/2014/main" id="{008A1252-2038-492C-97F2-87C345EF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38550"/>
            <a:ext cx="20002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382238"/>
          </a:solidFill>
          <a:ln xmlns:a="http://schemas.openxmlformats.org/drawingml/2006/main" w="11430">
            <a:solidFill>
              <a:srgbClr val="FF5B91"/>
            </a:solidFill>
            <a:prstDash val="solid"/>
          </a:ln>
        </p:spPr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E55D8C9F-CA57-4E81-8662-7088D73E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7147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Payment Engine</a:t>
            </a:r>
          </a:p>
        </p:txBody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B6724805-FDA0-4980-B6F2-4DD337B3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0005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Debit • credit • receipt</a:t>
            </a:r>
          </a:p>
        </p:txBody>
      </p:sp>
      <p:sp>
        <p:nvSpPr>
          <p:cNvPr id="61" name="node-Alerts">
            <a:extLst xmlns:a="http://schemas.openxmlformats.org/drawingml/2006/main">
              <a:ext uri="{FF2B5EF4-FFF2-40B4-BE49-F238E27FC236}">
                <a16:creationId xmlns:a16="http://schemas.microsoft.com/office/drawing/2014/main" id="{DDA7C826-F26C-4418-92E3-B95C89AB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3638550"/>
            <a:ext cx="10001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A3144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AD2F7161-E407-4C36-AA15-67949318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714750"/>
            <a:ext cx="771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Alerts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1E98C155-E36F-4150-8779-927BDDC2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00500"/>
            <a:ext cx="771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Real-time</a:t>
            </a:r>
          </a:p>
          <a:p xmlns:a="http://schemas.openxmlformats.org/drawingml/2006/main">
            <a:pPr algn="ctr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updates</a:t>
            </a:r>
          </a:p>
        </p:txBody>
      </p:sp>
      <p:sp>
        <p:nvSpPr>
          <p:cNvPr id="64" name="node-MongoDB Cloud">
            <a:extLst xmlns:a="http://schemas.openxmlformats.org/drawingml/2006/main">
              <a:ext uri="{FF2B5EF4-FFF2-40B4-BE49-F238E27FC236}">
                <a16:creationId xmlns:a16="http://schemas.microsoft.com/office/drawing/2014/main" id="{38DE60AB-F4B6-4A72-9908-9A43C75B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57800"/>
            <a:ext cx="228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83C"/>
          </a:solidFill>
          <a:ln xmlns:a="http://schemas.openxmlformats.org/drawingml/2006/main" w="11430">
            <a:solidFill>
              <a:srgbClr val="55A7FF"/>
            </a:solidFill>
            <a:prstDash val="solid"/>
          </a:ln>
        </p:spPr>
      </p:sp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2B803A08-7DF3-4A14-BC1E-9DC2453F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3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MongoDB Cloud</a:t>
            </a:r>
          </a:p>
        </p:txBody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5AA8C59E-0213-4668-BFD8-71BD1332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197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Users • wallets • full transactions</a:t>
            </a:r>
          </a:p>
        </p:txBody>
      </p:sp>
      <p:sp>
        <p:nvSpPr>
          <p:cNvPr id="67" name="node-Blockchain Network">
            <a:extLst xmlns:a="http://schemas.openxmlformats.org/drawingml/2006/main">
              <a:ext uri="{FF2B5EF4-FFF2-40B4-BE49-F238E27FC236}">
                <a16:creationId xmlns:a16="http://schemas.microsoft.com/office/drawing/2014/main" id="{DD66AD08-2ED0-4D04-A771-50A71F29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57800"/>
            <a:ext cx="228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52337"/>
          </a:solidFill>
          <a:ln xmlns:a="http://schemas.openxmlformats.org/drawingml/2006/main" w="11430">
            <a:solidFill>
              <a:srgbClr val="FF5B91"/>
            </a:solidFill>
            <a:prstDash val="solid"/>
          </a:ln>
        </p:spPr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12EC40C7-28F2-47F7-A459-355957B2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Blockchain Network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D9154D84-DF5B-4156-8C0E-D0FA6E30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97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paymentId + applicationHash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B1A08362-C834-4F55-ACAE-1A348640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512445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6D6BF"/>
                </a:solidFill>
              </a:defRPr>
            </a:pPr>
            <a:r>
              <a:rPr sz="975" b="1">
                <a:solidFill>
                  <a:srgbClr val="36D6BF"/>
                </a:solidFill>
              </a:rPr>
              <a:t>verifyTransaction()</a:t>
            </a:r>
          </a:p>
          <a:p xmlns:a="http://schemas.openxmlformats.org/drawingml/2006/main">
            <a:pPr algn="ctr">
              <a:defRPr sz="975" b="1">
                <a:solidFill>
                  <a:srgbClr val="36D6BF"/>
                </a:solidFill>
              </a:defRPr>
            </a:pPr>
            <a:r>
              <a:rPr sz="975" b="1">
                <a:solidFill>
                  <a:srgbClr val="36D6BF"/>
                </a:solidFill>
              </a:rPr>
              <a:t>returns true / false</a:t>
            </a:r>
          </a:p>
        </p:txBody>
      </p:sp>
      <p:sp>
        <p:nvSpPr>
          <p:cNvPr id="71" name="box">
            <a:extLst xmlns:a="http://schemas.openxmlformats.org/drawingml/2006/main">
              <a:ext uri="{FF2B5EF4-FFF2-40B4-BE49-F238E27FC236}">
                <a16:creationId xmlns:a16="http://schemas.microsoft.com/office/drawing/2014/main" id="{2E23C088-A147-4AB8-932D-E8222B8B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448425"/>
            <a:ext cx="94297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11430">
            <a:solidFill>
              <a:srgbClr val="2A4057"/>
            </a:solidFill>
            <a:prstDash val="solid"/>
          </a:ln>
        </p:spPr>
      </p: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406E64F9-0E31-4DF9-9E5E-6F600846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6579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05</a:t>
            </a:r>
          </a:p>
        </p:txBody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FFA60B39-76D9-4565-8466-F9BD445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57975"/>
            <a:ext cx="842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PAYMENT WORKFLOW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566D69D-A024-455D-96AA-E9C32EE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6390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906FBE-1EED-4875-A9E0-F02FB5C4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7219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FE1AC688-A043-48FA-AC48-D2DC189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7219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77" name="text">
            <a:extLst xmlns:a="http://schemas.openxmlformats.org/drawingml/2006/main">
              <a:ext uri="{FF2B5EF4-FFF2-40B4-BE49-F238E27FC236}">
                <a16:creationId xmlns:a16="http://schemas.microsoft.com/office/drawing/2014/main" id="{16547E22-7235-4C66-9F48-BB7B40F3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7734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Scan / select user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D2EA18-83B5-4BD2-BE85-E5F2813C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76390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7B61C74-2156-41BB-A269-A3FC8B11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7219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text">
            <a:extLst xmlns:a="http://schemas.openxmlformats.org/drawingml/2006/main">
              <a:ext uri="{FF2B5EF4-FFF2-40B4-BE49-F238E27FC236}">
                <a16:creationId xmlns:a16="http://schemas.microsoft.com/office/drawing/2014/main" id="{5A2D7BAB-5D87-4423-BDFD-EEA185B5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7219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81" name="text">
            <a:extLst xmlns:a="http://schemas.openxmlformats.org/drawingml/2006/main">
              <a:ext uri="{FF2B5EF4-FFF2-40B4-BE49-F238E27FC236}">
                <a16:creationId xmlns:a16="http://schemas.microsoft.com/office/drawing/2014/main" id="{5BBD35C6-FB0E-4DB8-8470-0ECBF8DC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7734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Validate PIN + balance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BAEDC6-A2F0-4AA6-9A9B-96225C37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76390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07D48CD-C151-4BA7-AEAA-5664F1B4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19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AC5774B3-5EB8-43A1-A8AE-F40B5E6D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19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2A8C960D-2C4A-42EB-B439-31C74306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734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Update wallet records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4B519DE-2417-4472-9CB5-5D4774A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6390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B4EA3C5-ED96-40DD-B983-1A25B48E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7219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text">
            <a:extLst xmlns:a="http://schemas.openxmlformats.org/drawingml/2006/main">
              <a:ext uri="{FF2B5EF4-FFF2-40B4-BE49-F238E27FC236}">
                <a16:creationId xmlns:a16="http://schemas.microsoft.com/office/drawing/2014/main" id="{99DB6322-23A0-4AFF-AEFC-BD1AF0E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7219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89" name="text">
            <a:extLst xmlns:a="http://schemas.openxmlformats.org/drawingml/2006/main">
              <a:ext uri="{FF2B5EF4-FFF2-40B4-BE49-F238E27FC236}">
                <a16:creationId xmlns:a16="http://schemas.microsoft.com/office/drawing/2014/main" id="{1C2B1D74-1323-48B7-8006-73FCCC3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7734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Create SHA-256 proof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09BE6DB-8CF9-41A4-AAC5-EB605344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76390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A105CA-CD98-44B3-8EA1-F86926EB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219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text">
            <a:extLst xmlns:a="http://schemas.openxmlformats.org/drawingml/2006/main">
              <a:ext uri="{FF2B5EF4-FFF2-40B4-BE49-F238E27FC236}">
                <a16:creationId xmlns:a16="http://schemas.microsoft.com/office/drawing/2014/main" id="{5D8893C4-F607-4E02-BC67-3783F079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219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93" name="text">
            <a:extLst xmlns:a="http://schemas.openxmlformats.org/drawingml/2006/main">
              <a:ext uri="{FF2B5EF4-FFF2-40B4-BE49-F238E27FC236}">
                <a16:creationId xmlns:a16="http://schemas.microsoft.com/office/drawing/2014/main" id="{34F5010A-BF0E-41A7-8E7C-2CD0C8F5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734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Store + anchor hash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2B4378B-1E97-487B-BCFE-1CDC04ED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7219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ext">
            <a:extLst xmlns:a="http://schemas.openxmlformats.org/drawingml/2006/main">
              <a:ext uri="{FF2B5EF4-FFF2-40B4-BE49-F238E27FC236}">
                <a16:creationId xmlns:a16="http://schemas.microsoft.com/office/drawing/2014/main" id="{28F1B09C-4566-42E7-9B77-2283349E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7219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96" name="text">
            <a:extLst xmlns:a="http://schemas.openxmlformats.org/drawingml/2006/main">
              <a:ext uri="{FF2B5EF4-FFF2-40B4-BE49-F238E27FC236}">
                <a16:creationId xmlns:a16="http://schemas.microsoft.com/office/drawing/2014/main" id="{95C113C7-5747-49C3-91B9-BCC591D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7734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Issue receipt + alert</a:t>
            </a:r>
          </a:p>
        </p:txBody>
      </p:sp>
      <p:sp>
        <p:nvSpPr>
          <p:cNvPr id="97" name="box">
            <a:extLst xmlns:a="http://schemas.openxmlformats.org/drawingml/2006/main">
              <a:ext uri="{FF2B5EF4-FFF2-40B4-BE49-F238E27FC236}">
                <a16:creationId xmlns:a16="http://schemas.microsoft.com/office/drawing/2014/main" id="{23A48826-70BE-45CF-8503-C9962DB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658225"/>
            <a:ext cx="942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335"/>
          </a:solidFill>
          <a:ln xmlns:a="http://schemas.openxmlformats.org/drawingml/2006/main" w="11430">
            <a:solidFill>
              <a:srgbClr val="36D6BF"/>
            </a:solidFill>
            <a:prstDash val="solid"/>
          </a:ln>
        </p:spPr>
      </p:sp>
      <p:sp>
        <p:nvSpPr>
          <p:cNvPr id="98" name="text">
            <a:extLst xmlns:a="http://schemas.openxmlformats.org/drawingml/2006/main">
              <a:ext uri="{FF2B5EF4-FFF2-40B4-BE49-F238E27FC236}">
                <a16:creationId xmlns:a16="http://schemas.microsoft.com/office/drawing/2014/main" id="{FE6D726A-969B-4B93-8C24-771F7A67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88677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BF"/>
          </a:solidFill>
          <a:ln xmlns:a="http://schemas.openxmlformats.org/drawingml/2006/main" w="0">
            <a:solidFill>
              <a:srgbClr val="36D6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06</a:t>
            </a:r>
          </a:p>
        </p:txBody>
      </p:sp>
      <p:sp>
        <p:nvSpPr>
          <p:cNvPr id="99" name="text">
            <a:extLst xmlns:a="http://schemas.openxmlformats.org/drawingml/2006/main">
              <a:ext uri="{FF2B5EF4-FFF2-40B4-BE49-F238E27FC236}">
                <a16:creationId xmlns:a16="http://schemas.microsoft.com/office/drawing/2014/main" id="{175C01DD-0451-4528-A321-EE49A299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867775"/>
            <a:ext cx="842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EXPECTED OUTCOMES &amp; BENEFITS</a:t>
            </a:r>
          </a:p>
        </p:txBody>
      </p:sp>
      <p:sp>
        <p:nvSpPr>
          <p:cNvPr id="100" name="text">
            <a:extLst xmlns:a="http://schemas.openxmlformats.org/drawingml/2006/main">
              <a:ext uri="{FF2B5EF4-FFF2-40B4-BE49-F238E27FC236}">
                <a16:creationId xmlns:a16="http://schemas.microsoft.com/office/drawing/2014/main" id="{C2E92DCF-2457-485D-BFA7-A2C0423A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93726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Faster campus payments</a:t>
            </a:r>
          </a:p>
        </p:txBody>
      </p:sp>
      <p:sp>
        <p:nvSpPr>
          <p:cNvPr id="101" name="text">
            <a:extLst xmlns:a="http://schemas.openxmlformats.org/drawingml/2006/main">
              <a:ext uri="{FF2B5EF4-FFF2-40B4-BE49-F238E27FC236}">
                <a16:creationId xmlns:a16="http://schemas.microsoft.com/office/drawing/2014/main" id="{0E95590B-5821-4F4F-8793-B8A5253B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3726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BF"/>
                </a:solidFill>
              </a:defRPr>
            </a:pPr>
            <a:r>
              <a:rPr sz="1125" b="1">
                <a:solidFill>
                  <a:srgbClr val="36D6BF"/>
                </a:solidFill>
              </a:rPr>
              <a:t>Auditable digital receipts</a:t>
            </a:r>
          </a:p>
        </p:txBody>
      </p:sp>
      <p:sp>
        <p:nvSpPr>
          <p:cNvPr id="102" name="text">
            <a:extLst xmlns:a="http://schemas.openxmlformats.org/drawingml/2006/main">
              <a:ext uri="{FF2B5EF4-FFF2-40B4-BE49-F238E27FC236}">
                <a16:creationId xmlns:a16="http://schemas.microsoft.com/office/drawing/2014/main" id="{1CBF48F6-93FF-41C5-8C76-26D70C72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93726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Lower on-chain data cost</a:t>
            </a:r>
          </a:p>
        </p:txBody>
      </p:sp>
      <p:sp>
        <p:nvSpPr>
          <p:cNvPr id="103" name="text">
            <a:extLst xmlns:a="http://schemas.openxmlformats.org/drawingml/2006/main">
              <a:ext uri="{FF2B5EF4-FFF2-40B4-BE49-F238E27FC236}">
                <a16:creationId xmlns:a16="http://schemas.microsoft.com/office/drawing/2014/main" id="{19219CD9-B31B-4994-A43C-F86D37B7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3726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Privacy-aware hybrid design</a:t>
            </a:r>
          </a:p>
        </p:txBody>
      </p:sp>
      <p:sp>
        <p:nvSpPr>
          <p:cNvPr id="104" name="text">
            <a:extLst xmlns:a="http://schemas.openxmlformats.org/drawingml/2006/main">
              <a:ext uri="{FF2B5EF4-FFF2-40B4-BE49-F238E27FC236}">
                <a16:creationId xmlns:a16="http://schemas.microsoft.com/office/drawing/2014/main" id="{923E538A-A451-49A9-831E-C8204D2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93726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Easy cloud scaling</a:t>
            </a:r>
          </a:p>
        </p:txBody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EF329CF9-2B5A-4E6A-8A67-923C6CF5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9"/>
                </a:solidFill>
              </a:defRPr>
            </a:pPr>
            <a:r>
              <a:rPr sz="975" b="0">
                <a:solidFill>
                  <a:srgbClr val="A9B8C9"/>
                </a:solidFill>
              </a:rPr>
              <a:t>MVP status: hash-linked receipts are implemented in the API; Solidity testnet anchoring and managed cloud deployment are the next integration step.</a:t>
            </a:r>
          </a:p>
        </p:txBody>
      </p:sp>
      <p:sp>
        <p:nvSpPr>
          <p:cNvPr id="106" name="text">
            <a:extLst xmlns:a="http://schemas.openxmlformats.org/drawingml/2006/main">
              <a:ext uri="{FF2B5EF4-FFF2-40B4-BE49-F238E27FC236}">
                <a16:creationId xmlns:a16="http://schemas.microsoft.com/office/drawing/2014/main" id="{A37CCC76-BD81-4457-BF57-7C5B1098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02870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6D6BF"/>
                </a:solidFill>
              </a:defRPr>
            </a:pPr>
            <a:r>
              <a:rPr sz="975" b="1">
                <a:solidFill>
                  <a:srgbClr val="36D6BF"/>
                </a:solidFill>
              </a:rPr>
              <a:t>BLOCKPAY  •  SEND FAST. VERIFY FOREVER.</a:t>
            </a:r>
          </a:p>
        </p:txBody>
      </p:sp>
    </p:spTree>
    <p:extLst>
      <p:ext uri="{BB962C8B-B14F-4D97-AF65-F5344CB8AC3E}">
        <p14:creationId xmlns:p14="http://schemas.microsoft.com/office/powerpoint/2010/main" val="701126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2026-09-01T12:11:49.9140000Z</dcterms:created>
  <dcterms:modified xsi:type="dcterms:W3CDTF">2026-09-01T12:11:49.9140000Z</dcterms:modified>
</coreProperties>
</file>